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4.png"/><Relationship Id="rId5" Type="http://schemas.openxmlformats.org/officeDocument/2006/relationships/image" Target="../media/image-14-4.png"/><Relationship Id="rId6" Type="http://schemas.openxmlformats.org/officeDocument/2006/relationships/image" Target="../media/image-14-4.png"/><Relationship Id="rId7" Type="http://schemas.openxmlformats.org/officeDocument/2006/relationships/image" Target="../media/image-14-4.png"/><Relationship Id="rId8" Type="http://schemas.openxmlformats.org/officeDocument/2006/relationships/image" Target="../media/image-14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S.-T. YAU HIGH SCHOOL SCIENCE AWARD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Semigroups,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Formalized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Project — Status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4206240" cy="0"/>
          </a:xfrm>
          <a:prstGeom prst="line">
            <a:avLst/>
          </a:prstGeom>
          <a:noFill/>
          <a:ln w="12700">
            <a:solidFill>
              <a:srgbClr val="3340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Yao   ·   J. Yang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0" y="1965960"/>
            <a:ext cx="1874520" cy="1874520"/>
          </a:xfrm>
          <a:prstGeom prst="ellipse">
            <a:avLst/>
          </a:prstGeom>
          <a:solidFill>
            <a:srgbClr val="263172"/>
          </a:solidFill>
          <a:ln/>
        </p:spPr>
      </p:sp>
      <p:pic>
        <p:nvPicPr>
          <p:cNvPr id="9" name="Image 0" descr="/private/tmp/claude-501/-Users-alanyao-Desktop/b0ec8290-690a-4c89-b220-cfb1c1154418/scratchpad/mvp-deck/icons/medal_F2B7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423160"/>
            <a:ext cx="960120" cy="960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8972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⟨3, 5, 7⟩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566928" cy="566928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3" name="Image 0" descr="/private/tmp/claude-501/-Users-alanyao-Desktop/b0ec8290-690a-4c89-b220-cfb1c1154418/scratchpad/mvp-deck/icons/coin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63495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starts with a coin puzzle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600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coins worth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5, and 7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Which exact totals can you pay?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make 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3, 5, 6, 7, 8, …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everything from 5 upward — but never 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B5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or 4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22960" y="4206240"/>
            <a:ext cx="4846320" cy="0"/>
          </a:xfrm>
          <a:prstGeom prst="line">
            <a:avLst/>
          </a:prstGeom>
          <a:noFill/>
          <a:ln w="25400">
            <a:solidFill>
              <a:srgbClr val="C7D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2376" y="41056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207008" y="410565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7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91640" y="410565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7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63624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176272" y="41056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48256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660904" y="410565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7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32888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145536" y="41056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1752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30168" y="41056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02152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114800" y="41056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86784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99432" y="41056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71416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84064" y="41056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56048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68696" y="41056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068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2296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makeable      ○ gap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46520" y="1600200"/>
            <a:ext cx="4937760" cy="301752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/>
        </p:spPr>
      </p:sp>
      <p:sp>
        <p:nvSpPr>
          <p:cNvPr id="32" name="Text 29"/>
          <p:cNvSpPr/>
          <p:nvPr/>
        </p:nvSpPr>
        <p:spPr>
          <a:xfrm>
            <a:off x="676656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numerical semigroup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66560" y="21031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⟨3, 5, 7⟩</a:t>
            </a:r>
            <a:endParaRPr lang="en-US" sz="3400" dirty="0"/>
          </a:p>
        </p:txBody>
      </p:sp>
      <p:sp>
        <p:nvSpPr>
          <p:cNvPr id="34" name="Text 31"/>
          <p:cNvSpPr/>
          <p:nvPr/>
        </p:nvSpPr>
        <p:spPr>
          <a:xfrm>
            <a:off x="6766560" y="28803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35" name="Text 32"/>
          <p:cNvSpPr/>
          <p:nvPr/>
        </p:nvSpPr>
        <p:spPr>
          <a:xfrm>
            <a:off x="6766560" y="3703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Frobenius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412480" y="28803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37" name="Text 34"/>
          <p:cNvSpPr/>
          <p:nvPr/>
        </p:nvSpPr>
        <p:spPr>
          <a:xfrm>
            <a:off x="8412480" y="3703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(gaps)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total you can never form — every published paper we audit reports numbers just like these.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alanyao-Desktop/b0ec8290-690a-4c89-b220-cfb1c1154418/scratchpad/mvp-deck/icons/infinit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84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mathematics, precisely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F3F6FC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709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semigroup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21031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⊆ ℕ containing 0, closed under addition, whose complement in ℕ is finite.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 = ⟨n₁,…,n_k⟩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non-negative combinations of generators n₁ &lt; ... &lt; n_k with gcd = 1.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50876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F3F6FC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709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Factorization isn't unique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46520" y="21031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⟨2, 3⟩, the number 6 is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2+2+2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(length 3)   or  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3+3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(length 2)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set  L(6) = {2, 3}</a:t>
            </a:r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this non-uniqueness is factorization theory.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4434840"/>
            <a:ext cx="1056132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FLAGSHIP THEOREM — ELASTICITY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48920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ρ(S) = n_k / n₁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309360" y="48006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ρ(s) = max L(s) / min L(s)   is the elasticity of an element;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ρ(S) is the largest value over every element of 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alanyao-Desktop/b0ec8290-690a-4c89-b220-cfb1c1154418/scratchpad/mvp-deck/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84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prove it by machine?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assistant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(Lean 4 + Mathlib) checks every logical step against the axioms of mathematics. If the file compiles, the theorem is correct — no “it is easy to see.”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423160"/>
            <a:ext cx="5074920" cy="3063240"/>
          </a:xfrm>
          <a:prstGeom prst="roundRect">
            <a:avLst>
              <a:gd name="adj" fmla="val 2985"/>
            </a:avLst>
          </a:prstGeom>
          <a:solidFill>
            <a:srgbClr val="F3F6FC"/>
          </a:solidFill>
          <a:ln/>
        </p:spPr>
      </p:sp>
      <p:sp>
        <p:nvSpPr>
          <p:cNvPr id="7" name="Shape 4"/>
          <p:cNvSpPr/>
          <p:nvPr/>
        </p:nvSpPr>
        <p:spPr>
          <a:xfrm>
            <a:off x="6263640" y="2423160"/>
            <a:ext cx="507492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6243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3108960"/>
            <a:ext cx="4526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Lean's tiny trusted kernel runs the check itself.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airtight — adds no new assumptions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#print axioms reports none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comparatively slow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37960" y="26243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native_decide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37960" y="3108960"/>
            <a:ext cx="4526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the same check to fast machine code.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much faster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asserts the result as a new axiom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trusts the compiler + runtime too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rule: prefer decide whenever it finishes in reasonable time; fall back to native_decide only for larger computations — and re-check every headline number in GAP.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alanyao-Desktop/b0ec8290-690a-4c89-b220-cfb1c1154418/scratchpad/mvp-deck/icons/balanc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846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systems, one answer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691640"/>
            <a:ext cx="3749040" cy="1188720"/>
          </a:xfrm>
          <a:prstGeom prst="roundRect">
            <a:avLst>
              <a:gd name="adj" fmla="val 7692"/>
            </a:avLst>
          </a:prstGeom>
          <a:solidFill>
            <a:srgbClr val="F3F6FC"/>
          </a:solidFill>
          <a:ln/>
        </p:spPr>
      </p:sp>
      <p:pic>
        <p:nvPicPr>
          <p:cNvPr id="6" name="Image 1" descr="/private/tmp/claude-501/-Users-alanyao-Desktop/b0ec8290-690a-4c89-b220-cfb1c1154418/scratchpad/mvp-deck/icons/code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47672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1640" y="18928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/ native_decide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635240" y="1691640"/>
            <a:ext cx="3749040" cy="1188720"/>
          </a:xfrm>
          <a:prstGeom prst="roundRect">
            <a:avLst>
              <a:gd name="adj" fmla="val 7692"/>
            </a:avLst>
          </a:prstGeom>
          <a:solidFill>
            <a:srgbClr val="F3F6FC"/>
          </a:solidFill>
          <a:ln/>
        </p:spPr>
      </p:sp>
      <p:pic>
        <p:nvPicPr>
          <p:cNvPr id="9" name="Image 2" descr="/private/tmp/claude-501/-Users-alanyao-Desktop/b0ec8290-690a-4c89-b220-cfb1c1154418/scratchpad/mvp-deck/icons/flask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947672"/>
            <a:ext cx="502920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0" y="18928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+ numericalsgps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oracle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2743200" y="2880360"/>
            <a:ext cx="2468880" cy="914400"/>
          </a:xfrm>
          <a:prstGeom prst="line">
            <a:avLst/>
          </a:prstGeom>
          <a:noFill/>
          <a:ln w="25400">
            <a:solidFill>
              <a:srgbClr val="C7D0E0"/>
            </a:solidFill>
            <a:prstDash val="solid"/>
            <a:headEnd type="none"/>
            <a:tailEnd type="triangle"/>
          </a:ln>
        </p:spPr>
      </p:sp>
      <p:sp>
        <p:nvSpPr>
          <p:cNvPr id="12" name="Shape 7"/>
          <p:cNvSpPr/>
          <p:nvPr/>
        </p:nvSpPr>
        <p:spPr>
          <a:xfrm>
            <a:off x="7863840" y="2880360"/>
            <a:ext cx="-2377440" cy="914400"/>
          </a:xfrm>
          <a:prstGeom prst="line">
            <a:avLst/>
          </a:prstGeom>
          <a:noFill/>
          <a:ln w="25400">
            <a:solidFill>
              <a:srgbClr val="C7D0E0"/>
            </a:solidFill>
            <a:prstDash val="solid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5184648" y="3246120"/>
            <a:ext cx="1280160" cy="128016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4" name="Image 3" descr="/private/tmp/claude-501/-Users-alanyao-Desktop/b0ec8290-690a-4c89-b220-cfb1c1154418/scratchpad/mvp-deck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3520440"/>
            <a:ext cx="731520" cy="7315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20440" y="46177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bug would have to fool two independent systems to slip past us.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22960" y="5440680"/>
            <a:ext cx="1056132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pic>
        <p:nvPicPr>
          <p:cNvPr id="17" name="Image 4" descr="/private/tmp/claude-501/-Users-alanyao-Desktop/b0ec8290-690a-4c89-b220-cfb1c1154418/scratchpad/mvp-deck/icons/robot_F2B7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623560"/>
            <a:ext cx="502920" cy="5029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91640" y="5559552"/>
            <a:ext cx="9464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Aristotle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Lean proofs for us — its output is still re-checked by the same tiny kernel, so it can never introduce an unsound step. It only saves time.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“Minimum Viable Project” means for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private/tmp/claude-501/-Users-alanyao-Desktop/b0ec8290-690a-4c89-b220-cfb1c1154418/scratchpad/mvp-deck/icons/boo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Library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20574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Lean numerical semigroups &amp; their invariants — membership, gaps, Frobenius number, genus, factorizations, length sets, elasticity.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1828800"/>
            <a:ext cx="30175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83667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private/tmp/claude-501/-Users-alanyao-Desktop/b0ec8290-690a-4c89-b220-cfb1c1154418/scratchpad/mvp-deck/icons/infinit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282696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Theorem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37360" y="34747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prove the flagship elasticity formula ρ(S) = n_k/n₁, with no gaps.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66760" y="3246120"/>
            <a:ext cx="3017520" cy="502920"/>
          </a:xfrm>
          <a:prstGeom prst="roundRect">
            <a:avLst>
              <a:gd name="adj" fmla="val 50909"/>
            </a:avLst>
          </a:prstGeom>
          <a:solidFill>
            <a:srgbClr val="F2B705"/>
          </a:solidFill>
          <a:ln/>
        </p:spPr>
      </p:sp>
      <p:sp>
        <p:nvSpPr>
          <p:cNvPr id="15" name="Text 11"/>
          <p:cNvSpPr/>
          <p:nvPr/>
        </p:nvSpPr>
        <p:spPr>
          <a:xfrm>
            <a:off x="8366760" y="3246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— zero sorries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46177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private/tmp/claude-501/-Users-alanyao-Desktop/b0ec8290-690a-4c89-b220-cfb1c1154418/scratchpad/mvp-deck/icon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700016"/>
            <a:ext cx="521208" cy="5212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Audit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37360" y="4892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 the numbers in ~19 published papers with decide/native_decide, cross-check every value in GAP, report discrepancies.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366760" y="4663440"/>
            <a:ext cx="3017520" cy="502920"/>
          </a:xfrm>
          <a:prstGeom prst="roundRect">
            <a:avLst>
              <a:gd name="adj" fmla="val 50909"/>
            </a:avLst>
          </a:prstGeom>
          <a:solidFill>
            <a:srgbClr val="8B98B8"/>
          </a:solidFill>
          <a:ln/>
        </p:spPr>
      </p:sp>
      <p:sp>
        <p:nvSpPr>
          <p:cNvPr id="21" name="Text 16"/>
          <p:cNvSpPr/>
          <p:nvPr/>
        </p:nvSpPr>
        <p:spPr>
          <a:xfrm>
            <a:off x="8366760" y="4663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19 confirmed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alanyao-Desktop/b0ec8290-690a-4c89-b220-cfb1c1154418/scratchpad/mvp-deck/icons/sitem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84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repos, one clean split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“must compile” vs. “everything else” — not simply Lean vs. non-Lean.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1600200"/>
            <a:ext cx="5212080" cy="4434840"/>
          </a:xfrm>
          <a:prstGeom prst="roundRect">
            <a:avLst>
              <a:gd name="adj" fmla="val 2062"/>
            </a:avLst>
          </a:prstGeom>
          <a:solidFill>
            <a:srgbClr val="F3F6FC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ns-lean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build · CI-green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97280" y="25146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lakefile.toml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lean-toolchain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NumSemigroups.lean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NumSemigroups/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Basic.lean            (goal 1 core)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PaperClaims.lean   (goal 3 audit)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Defs.lean               (goal 2)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Factorization.lean  (goal 2)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Elasticity.lean         (goal 2)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   (CI)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ns-project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3796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needs to compile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37960" y="251460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results-table.md      (audit log)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Project-Overview.pdf  (this guide)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TASK.md                       (Aristotle spec)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ARISTOTLE_SUMMARY.md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still to add: LaTeX write-up,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GAP cross-check scripts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1 — the computational 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NumSemigroups/Basic.lean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6126480" cy="4434840"/>
          </a:xfrm>
          <a:prstGeom prst="roundRect">
            <a:avLst>
              <a:gd name="adj" fmla="val 2062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7452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canMake (gens) (n) : Bool := …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frobeniusUpTo (gens) (bound) : Nat :=
  …largest gap up to bound…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 frobenius_3_5_7 :
    frobeniusUpTo [3,5,7] 20 = 4 := by
  native_decide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 frobenius_3_5_7_decide 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frobeniusUpTo [3,5,7] 20 = 4 := by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Frobenius(⟨3,5,7⟩)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2103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7269480" y="37947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028090"/>
          </a:solidFill>
          <a:ln/>
        </p:spPr>
      </p:sp>
      <p:pic>
        <p:nvPicPr>
          <p:cNvPr id="10" name="Image 0" descr="/private/tmp/claude-501/-Users-alanyao-Desktop/b0ec8290-690a-4c89-b220-cfb1c1154418/scratchpad/mvp-deck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0233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0" y="39136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axioms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269480" y="48920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2B705"/>
          </a:solidFill>
          <a:ln/>
        </p:spPr>
      </p:sp>
      <p:pic>
        <p:nvPicPr>
          <p:cNvPr id="13" name="Image 1" descr="/private/tmp/claude-501/-Users-alanyao-Desktop/b0ec8290-690a-4c89-b220-cfb1c1154418/scratchpad/mvp-deck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51206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01000" y="50109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native_decide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one axiom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269480" y="5943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fact, proved two independent ways — inside Lean itself.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2 — the flagship theorem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NumSemigroups/{Defs, Factorization, Elasticity}.lean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elasticity_eq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ρ(S) = n_k / n₁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 = ⟨n₀,…,n_(d+1)⟩ with n strictly increasing and n₀ &gt; 0, k ≥ 2 generators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26317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3703320"/>
            <a:ext cx="411480" cy="41148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length-L factorization uses L generators in [n₁, n_k], so L·n₁ ≤ s ≤ L·n_k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89120" y="35204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26317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3703320"/>
            <a:ext cx="411480" cy="41148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4206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 length L lies in the range [ s/n_k , s/n₁ ]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955280" y="35204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26317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3703320"/>
            <a:ext cx="411480" cy="41148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38160" y="4206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extremal ratio n_k/n₁ is hit exactly at s = n₁·n_k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5166360"/>
            <a:ext cx="10561320" cy="1097280"/>
          </a:xfrm>
          <a:prstGeom prst="roundRect">
            <a:avLst>
              <a:gd name="adj" fmla="val 8333"/>
            </a:avLst>
          </a:prstGeom>
          <a:solidFill>
            <a:srgbClr val="F2B705"/>
          </a:solidFill>
          <a:ln/>
        </p:spPr>
      </p:sp>
      <p:pic>
        <p:nvPicPr>
          <p:cNvPr id="20" name="Image 0" descr="/private/tmp/claude-501/-Users-alanyao-Desktop/b0ec8290-690a-4c89-b220-cfb1c1154418/scratchpad/mvp-deck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5394960"/>
            <a:ext cx="594360" cy="5943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828800" y="53035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sorries · standard axioms only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(propext, Classical.choice, Quot.sound)
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with Aristotle, kernel-verified — currently being aligned to the team's Mathlib v4.32.0 pin.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alanyao-Desktop/b0ec8290-690a-4c89-b220-cfb1c1154418/scratchpad/mvp-deck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84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3 — the audit thread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NumSemigroups/PaperClaims.lean  +  ns-project/results-table.md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1600200"/>
            <a:ext cx="10561320" cy="4160520"/>
          </a:xfrm>
          <a:prstGeom prst="roundRect">
            <a:avLst>
              <a:gd name="adj" fmla="val 2198"/>
            </a:avLst>
          </a:prstGeom>
          <a:solidFill>
            <a:srgbClr val="F3F6FC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arXiv:math/0606717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the Frobenius Number of Fibonacci Numerical Semigroups”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tested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77640" y="2788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1.1, i = 5, k = 3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430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776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F7, F8  =  5, 13, 21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4300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predicts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977640" y="3703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Frobenius number = 37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43000" y="42976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</p:spPr>
      </p:sp>
      <p:pic>
        <p:nvPicPr>
          <p:cNvPr id="16" name="Image 1" descr="/private/tmp/claude-501/-Users-alanyao-Desktop/b0ec8290-690a-4c89-b220-cfb1c1154418/scratchpad/mvp-deck/icons/cod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2628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57400" y="4480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+ native_decide → pass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577840" y="42976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</p:spPr>
      </p:sp>
      <p:pic>
        <p:nvPicPr>
          <p:cNvPr id="19" name="Image 2" descr="/private/tmp/claude-501/-Users-alanyao-Desktop/b0ec8290-690a-4c89-b220-cfb1c1154418/scratchpad/mvp-deck/icons/flas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452628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92240" y="4480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FrobeniusNumber(...) → pass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966960" y="429768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F2B705"/>
          </a:solidFill>
          <a:ln/>
        </p:spPr>
      </p:sp>
      <p:pic>
        <p:nvPicPr>
          <p:cNvPr id="22" name="Image 3" descr="/private/tmp/claude-501/-Users-alanyao-Desktop/b0ec8290-690a-4c89-b220-cfb1c1154418/scratchpad/mvp-deck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4553712"/>
            <a:ext cx="685800" cy="6858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CONFIRMED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B5473A"/>
          </a:solidFill>
          <a:ln/>
        </p:spPr>
      </p:sp>
      <p:pic>
        <p:nvPicPr>
          <p:cNvPr id="3" name="Image 0" descr="/private/tmp/claude-501/-Users-alanyao-Desktop/b0ec8290-690a-4c89-b220-cfb1c1154418/scratchpad/mvp-deck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84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already hit a wall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that's useful. Good audits report what they can't yet verify.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737360"/>
            <a:ext cx="10561320" cy="2834640"/>
          </a:xfrm>
          <a:prstGeom prst="roundRect">
            <a:avLst>
              <a:gd name="adj" fmla="val 3226"/>
            </a:avLst>
          </a:prstGeom>
          <a:solidFill>
            <a:srgbClr val="F3F6FC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paper, next claim: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1.1 — the “otherwise” branch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292608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brute-force, fuel-bounded computational core (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Basic.lean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is too slow for the generator sizes this branch needs.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143000" y="3794760"/>
            <a:ext cx="9052560" cy="640080"/>
          </a:xfrm>
          <a:prstGeom prst="roundRect">
            <a:avLst>
              <a:gd name="adj" fmla="val 50000"/>
            </a:avLst>
          </a:prstGeom>
          <a:solidFill>
            <a:srgbClr val="F4E3D9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79476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needs efficient core — flagged in results-table.md, next on the roadmap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892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log every audit outcome — pass, or discrepancy — in results-table.md. Nothing gets swept under the rug.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alanyao-Desktop/b0ec8290-690a-4c89-b220-cfb1c1154418/scratchpad/mvp-deck/icons/tab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~19 papers on the target list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3F6FC"/>
          </a:solidFill>
          <a:ln/>
        </p:spPr>
      </p:sp>
      <p:sp>
        <p:nvSpPr>
          <p:cNvPr id="6" name="Shape 3"/>
          <p:cNvSpPr/>
          <p:nvPr/>
        </p:nvSpPr>
        <p:spPr>
          <a:xfrm>
            <a:off x="1051560" y="1581912"/>
            <a:ext cx="512064" cy="51206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581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families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37360" y="18288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✓ done · Thabit · repunit · linear recurrence · geometric · triangular/tetrahedral · powers of 3 consecutive ints · squares-of-semigroup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2359152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3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1051560" y="252374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37360" y="2450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generator counts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37360" y="27706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numerical semigroups · Arf semigroups · symmetric (3 generators)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22960" y="3300984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3F6FC"/>
          </a:solidFill>
          <a:ln/>
        </p:spPr>
      </p:sp>
      <p:sp>
        <p:nvSpPr>
          <p:cNvPr id="16" name="Shape 13"/>
          <p:cNvSpPr/>
          <p:nvPr/>
        </p:nvSpPr>
        <p:spPr>
          <a:xfrm>
            <a:off x="1051560" y="346557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3465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737360" y="3392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737360" y="37124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elasticities in numerical monoids · elasticity in Apéry sets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2960" y="4242816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3F6FC"/>
          </a:solidFill>
          <a:ln/>
        </p:spPr>
      </p:sp>
      <p:sp>
        <p:nvSpPr>
          <p:cNvPr id="21" name="Shape 18"/>
          <p:cNvSpPr/>
          <p:nvPr/>
        </p:nvSpPr>
        <p:spPr>
          <a:xfrm>
            <a:off x="1051560" y="440740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1051560" y="4407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737360" y="4334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sets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737360" y="46542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dim. 3 · symmetric embedding dim. 3 · realization problem · ∞- and 0-delta sets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22960" y="5184648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3F6FC"/>
          </a:solidFill>
          <a:ln/>
        </p:spPr>
      </p:sp>
      <p:sp>
        <p:nvSpPr>
          <p:cNvPr id="26" name="Shape 23"/>
          <p:cNvSpPr/>
          <p:nvPr/>
        </p:nvSpPr>
        <p:spPr>
          <a:xfrm>
            <a:off x="1051560" y="53492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4"/>
          <p:cNvSpPr/>
          <p:nvPr/>
        </p:nvSpPr>
        <p:spPr>
          <a:xfrm>
            <a:off x="1051560" y="5349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737360" y="5276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Catenary / tame degree / ω-invariant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737360" y="55961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arithmetic sequences · dynamic algorithms · arithmetical invariants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alanyao-Desktop/b0ec8290-690a-4c89-b220-cfb1c1154418/scratchpad/mvp-deck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84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threads, one team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64592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3F6FC"/>
          </a:solidFill>
          <a:ln/>
        </p:spPr>
      </p:sp>
      <p:pic>
        <p:nvPicPr>
          <p:cNvPr id="6" name="Image 1" descr="/private/tmp/claude-501/-Users-alanyao-Desktop/b0ec8290-690a-4c89-b220-cfb1c1154418/scratchpad/mvp-deck/icons/infinity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thread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97280" y="25146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library and proving the flagship theorem, in Lean.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263640" y="164592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3F6FC"/>
          </a:solidFill>
          <a:ln/>
        </p:spPr>
      </p:sp>
      <p:pic>
        <p:nvPicPr>
          <p:cNvPr id="10" name="Image 2" descr="/private/tmp/claude-501/-Users-alanyao-Desktop/b0ec8290-690a-4c89-b220-cfb1c1154418/scratchpad/mvp-deck/icons/search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780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thread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537960" y="25146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papers' numeric claims, cross-checking GAP, logging results.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22960" y="4343400"/>
            <a:ext cx="146304" cy="14630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4" name="Text 9"/>
          <p:cNvSpPr/>
          <p:nvPr/>
        </p:nvSpPr>
        <p:spPr>
          <a:xfrm>
            <a:off x="1143000" y="41879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us leads one thread, then we swap partway — both learn both sides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22960" y="4910328"/>
            <a:ext cx="146304" cy="14630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6" name="Text 11"/>
          <p:cNvSpPr/>
          <p:nvPr/>
        </p:nvSpPr>
        <p:spPr>
          <a:xfrm>
            <a:off x="114300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run in parallel: audit only needs the finished computational core, not the finished proof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22960" y="5477256"/>
            <a:ext cx="146304" cy="14630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Text 13"/>
          <p:cNvSpPr/>
          <p:nvPr/>
        </p:nvSpPr>
        <p:spPr>
          <a:xfrm>
            <a:off x="1143000" y="5321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reviews regularly; GAP is the independent oracle for every number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our MVP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263172"/>
          </a:solidFill>
          <a:ln/>
        </p:spPr>
      </p:sp>
      <p:pic>
        <p:nvPicPr>
          <p:cNvPr id="4" name="Image 0" descr="/private/tmp/claude-501/-Users-alanyao-Desktop/b0ec8290-690a-4c89-b220-cfb1c1154418/scratchpad/mvp-deck/icons/check_F2B7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2128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theorem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51560" y="25786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end-to-end — zero sorries, kernel-verified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89120" y="141732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263172"/>
          </a:solidFill>
          <a:ln/>
        </p:spPr>
      </p:sp>
      <p:pic>
        <p:nvPicPr>
          <p:cNvPr id="8" name="Image 1" descr="/private/tmp/claude-501/-Users-alanyao-Desktop/b0ec8290-690a-4c89-b220-cfb1c1154418/scratchpad/mvp-deck/icons/check_F2B7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459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22128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17720" y="25786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end-to-end — Lean and GAP agree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55280" y="141732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263172"/>
          </a:solidFill>
          <a:ln/>
        </p:spPr>
      </p:sp>
      <p:pic>
        <p:nvPicPr>
          <p:cNvPr id="12" name="Image 2" descr="/private/tmp/claude-501/-Users-alanyao-Desktop/b0ec8290-690a-4c89-b220-cfb1c1154418/scratchpad/mvp-deck/icons/check_F2B7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6459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3880" y="22128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183880" y="25786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both threads together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2296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pic>
        <p:nvPicPr>
          <p:cNvPr id="16" name="Image 3" descr="/private/tmp/claude-501/-Users-alanyao-Desktop/b0ec8290-690a-4c89-b220-cfb1c1154418/scratchpad/mvp-deck/icons/rocket_F2B7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233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9684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CI green on every push to ns-lean</a:t>
            </a:r>
            <a:endParaRPr lang="en-US" sz="1450" dirty="0"/>
          </a:p>
        </p:txBody>
      </p:sp>
      <p:pic>
        <p:nvPicPr>
          <p:cNvPr id="18" name="Image 4" descr="/private/tmp/claude-501/-Users-alanyao-Desktop/b0ec8290-690a-4c89-b220-cfb1c1154418/scratchpad/mvp-deck/icons/rocket_F2B7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98848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44439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 elasticity proof to the team's pinned Mathlib version</a:t>
            </a:r>
            <a:endParaRPr lang="en-US" sz="1450" dirty="0"/>
          </a:p>
        </p:txBody>
      </p:sp>
      <p:pic>
        <p:nvPicPr>
          <p:cNvPr id="20" name="Image 5" descr="/private/tmp/claude-501/-Users-alanyao-Desktop/b0ec8290-690a-4c89-b220-cfb1c1154418/scratchpad/mvp-deck/icons/rocket_F2B7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974336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80160" y="491947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GAP cross-check scripts in ns-project</a:t>
            </a:r>
            <a:endParaRPr lang="en-US" sz="1450" dirty="0"/>
          </a:p>
        </p:txBody>
      </p:sp>
      <p:pic>
        <p:nvPicPr>
          <p:cNvPr id="22" name="Image 6" descr="/private/tmp/claude-501/-Users-alanyao-Desktop/b0ec8290-690a-4c89-b220-cfb1c1154418/scratchpad/mvp-deck/icons/rocket_F2B70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449824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80160" y="53949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remaining ~18 audit-target papers</a:t>
            </a:r>
            <a:endParaRPr lang="en-US" sz="1450" dirty="0"/>
          </a:p>
        </p:txBody>
      </p:sp>
      <p:pic>
        <p:nvPicPr>
          <p:cNvPr id="24" name="Image 7" descr="/private/tmp/claude-501/-Users-alanyao-Desktop/b0ec8290-690a-4c89-b220-cfb1c1154418/scratchpad/mvp-deck/icons/rocket_F2B70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925312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280160" y="587044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the LaTeX write-up</a:t>
            </a:r>
            <a:endParaRPr lang="en-US" sz="1450" dirty="0"/>
          </a:p>
        </p:txBody>
      </p:sp>
      <p:sp>
        <p:nvSpPr>
          <p:cNvPr id="26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600" dirty="0"/>
          </a:p>
        </p:txBody>
      </p:sp>
      <p:pic>
        <p:nvPicPr>
          <p:cNvPr id="4" name="Image 0" descr="/private/tmp/claude-501/-Users-alanyao-Desktop/b0ec8290-690a-4c89-b220-cfb1c1154418/scratchpad/mvp-deck/icons/github_F2B7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121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github.com/ThegJYang/ns-lean</a:t>
            </a:r>
            <a:endParaRPr lang="en-US" sz="1450" dirty="0"/>
          </a:p>
        </p:txBody>
      </p:sp>
      <p:pic>
        <p:nvPicPr>
          <p:cNvPr id="6" name="Image 1" descr="/private/tmp/claude-501/-Users-alanyao-Desktop/b0ec8290-690a-4c89-b220-cfb1c1154418/scratchpad/mvp-deck/icons/github_F2B7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1576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268833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github.com/ThegJYang/ns-project</a:t>
            </a:r>
            <a:endParaRPr lang="en-US" sz="1450" dirty="0"/>
          </a:p>
        </p:txBody>
      </p:sp>
      <p:pic>
        <p:nvPicPr>
          <p:cNvPr id="8" name="Image 2" descr="/private/tmp/claude-501/-Users-alanyao-Desktop/b0ec8290-690a-4c89-b220-cfb1c1154418/scratchpad/mvp-deck/icons/book_F2B7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82696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7320" y="325526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Number Game · Mathematics in Lean</a:t>
            </a:r>
            <a:endParaRPr lang="en-US" sz="1450" dirty="0"/>
          </a:p>
        </p:txBody>
      </p:sp>
      <p:pic>
        <p:nvPicPr>
          <p:cNvPr id="10" name="Image 3" descr="/private/tmp/claude-501/-Users-alanyao-Desktop/b0ec8290-690a-4c89-b220-cfb1c1154418/scratchpad/mvp-deck/icons/flask_F2B7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49624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17320" y="38221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+ numericalsgps</a:t>
            </a:r>
            <a:endParaRPr lang="en-US" sz="1450" dirty="0"/>
          </a:p>
        </p:txBody>
      </p:sp>
      <p:pic>
        <p:nvPicPr>
          <p:cNvPr id="12" name="Image 4" descr="/private/tmp/claude-501/-Users-alanyao-Desktop/b0ec8290-690a-4c89-b220-cfb1c1154418/scratchpad/mvp-deck/icons/robot_F2B7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16552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417320" y="43891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Aristotle (aristotle.harmonic.fun)</a:t>
            </a:r>
            <a:endParaRPr lang="en-US" sz="1450" dirty="0"/>
          </a:p>
        </p:txBody>
      </p:sp>
      <p:sp>
        <p:nvSpPr>
          <p:cNvPr id="14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2026-07-15T21:12:50Z</dcterms:created>
  <dcterms:modified xsi:type="dcterms:W3CDTF">2026-07-15T21:12:50Z</dcterms:modified>
</cp:coreProperties>
</file>